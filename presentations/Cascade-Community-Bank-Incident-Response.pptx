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1" r:id="rId4"/>
    <p:sldMasterId id="2147483682" r:id="rId5"/>
    <p:sldMasterId id="214748368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h6be9ed999bd28a1a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h6be9ed999bd28a1a_18_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h6be9ed999bd28a1a_6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h6be9ed999bd28a1a_6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h7d5695a4e5b0ecf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h7d5695a4e5b0ecf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Ryan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h6be9ed999bd28a1a_1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h6be9ed999bd28a1a_10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h6be9ed999bd28a1a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h6be9ed999bd28a1a_14_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h7d5695a4e5b0ecf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h7d5695a4e5b0ecf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8" name="Google Shape;138;p2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4" name="Google Shape;144;p2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29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0" name="Google Shape;150;p2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2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5" name="Google Shape;155;p30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156" name="Google Shape;156;p30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157" name="Google Shape;157;p3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3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3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31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3" name="Google Shape;163;p31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64" name="Google Shape;164;p31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5" name="Google Shape;165;p31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66" name="Google Shape;166;p3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3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3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3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2" name="Google Shape;172;p3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3" name="Google Shape;173;p3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33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77" name="Google Shape;177;p33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78" name="Google Shape;178;p3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9" name="Google Shape;179;p3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3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3" name="Google Shape;183;p34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34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85" name="Google Shape;185;p3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6" name="Google Shape;186;p3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7" name="Google Shape;187;p3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35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1" name="Google Shape;191;p3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2" name="Google Shape;192;p3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3" name="Google Shape;193;p3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6" name="Google Shape;196;p36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7" name="Google Shape;197;p3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8" name="Google Shape;198;p3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9" name="Google Shape;199;p3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2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2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3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D3E9"/>
            </a:gs>
            <a:gs pos="100000">
              <a:srgbClr val="04596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Cascade Community Bank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5" name="Google Shape;205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Team 3 - Carin Madden &amp; Ryan Carter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8"/>
          <p:cNvSpPr/>
          <p:nvPr/>
        </p:nvSpPr>
        <p:spPr>
          <a:xfrm>
            <a:off x="0" y="0"/>
            <a:ext cx="226320" cy="5143500"/>
          </a:xfrm>
          <a:prstGeom prst="rect">
            <a:avLst/>
          </a:prstGeom>
          <a:solidFill>
            <a:srgbClr val="18809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8"/>
          <p:cNvSpPr txBox="1"/>
          <p:nvPr/>
        </p:nvSpPr>
        <p:spPr>
          <a:xfrm>
            <a:off x="548655" y="493776"/>
            <a:ext cx="7544001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19314B"/>
                </a:solidFill>
                <a:latin typeface="Arial"/>
                <a:ea typeface="Arial"/>
                <a:cs typeface="Arial"/>
                <a:sym typeface="Arial"/>
              </a:rPr>
              <a:t>Presentation Overview</a:t>
            </a:r>
            <a:endParaRPr sz="1100"/>
          </a:p>
        </p:txBody>
      </p:sp>
      <p:sp>
        <p:nvSpPr>
          <p:cNvPr id="212" name="Google Shape;212;p38"/>
          <p:cNvSpPr/>
          <p:nvPr/>
        </p:nvSpPr>
        <p:spPr>
          <a:xfrm>
            <a:off x="562371" y="1035558"/>
            <a:ext cx="1371637" cy="30861"/>
          </a:xfrm>
          <a:prstGeom prst="rect">
            <a:avLst/>
          </a:prstGeom>
          <a:solidFill>
            <a:srgbClr val="18809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8"/>
          <p:cNvSpPr/>
          <p:nvPr/>
        </p:nvSpPr>
        <p:spPr>
          <a:xfrm>
            <a:off x="562371" y="1453896"/>
            <a:ext cx="3943455" cy="1131570"/>
          </a:xfrm>
          <a:prstGeom prst="roundRect">
            <a:avLst>
              <a:gd fmla="val 16667" name="adj"/>
            </a:avLst>
          </a:prstGeom>
          <a:solidFill>
            <a:srgbClr val="EE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8"/>
          <p:cNvSpPr txBox="1"/>
          <p:nvPr/>
        </p:nvSpPr>
        <p:spPr>
          <a:xfrm>
            <a:off x="894629" y="1659636"/>
            <a:ext cx="333044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19314B"/>
                </a:solidFill>
                <a:latin typeface="Arial"/>
                <a:ea typeface="Arial"/>
                <a:cs typeface="Arial"/>
                <a:sym typeface="Arial"/>
              </a:rPr>
              <a:t>System Hardening</a:t>
            </a:r>
            <a:endParaRPr sz="1100"/>
          </a:p>
        </p:txBody>
      </p:sp>
      <p:sp>
        <p:nvSpPr>
          <p:cNvPr id="215" name="Google Shape;215;p38"/>
          <p:cNvSpPr txBox="1"/>
          <p:nvPr/>
        </p:nvSpPr>
        <p:spPr>
          <a:xfrm>
            <a:off x="911804" y="2064246"/>
            <a:ext cx="32961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05E6A"/>
                </a:solidFill>
                <a:latin typeface="Arial"/>
                <a:ea typeface="Arial"/>
                <a:cs typeface="Arial"/>
                <a:sym typeface="Arial"/>
              </a:rPr>
              <a:t>Linux &amp; Windows </a:t>
            </a:r>
            <a:r>
              <a:rPr lang="en" sz="1100">
                <a:solidFill>
                  <a:srgbClr val="505E6A"/>
                </a:solidFill>
              </a:rPr>
              <a:t>Infrastructure</a:t>
            </a:r>
            <a:endParaRPr sz="1100"/>
          </a:p>
        </p:txBody>
      </p:sp>
      <p:sp>
        <p:nvSpPr>
          <p:cNvPr id="216" name="Google Shape;216;p38"/>
          <p:cNvSpPr/>
          <p:nvPr/>
        </p:nvSpPr>
        <p:spPr>
          <a:xfrm>
            <a:off x="4814444" y="1453896"/>
            <a:ext cx="3943455" cy="1131570"/>
          </a:xfrm>
          <a:prstGeom prst="roundRect">
            <a:avLst>
              <a:gd fmla="val 16667" name="adj"/>
            </a:avLst>
          </a:prstGeom>
          <a:solidFill>
            <a:srgbClr val="EE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8"/>
          <p:cNvSpPr txBox="1"/>
          <p:nvPr/>
        </p:nvSpPr>
        <p:spPr>
          <a:xfrm>
            <a:off x="5146703" y="1659636"/>
            <a:ext cx="333044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19314B"/>
                </a:solidFill>
                <a:latin typeface="Arial"/>
                <a:ea typeface="Arial"/>
                <a:cs typeface="Arial"/>
                <a:sym typeface="Arial"/>
              </a:rPr>
              <a:t>Incident Response</a:t>
            </a:r>
            <a:endParaRPr sz="1100"/>
          </a:p>
        </p:txBody>
      </p:sp>
      <p:sp>
        <p:nvSpPr>
          <p:cNvPr id="218" name="Google Shape;218;p38"/>
          <p:cNvSpPr txBox="1"/>
          <p:nvPr/>
        </p:nvSpPr>
        <p:spPr>
          <a:xfrm>
            <a:off x="5146703" y="2064258"/>
            <a:ext cx="329615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05E6A"/>
                </a:solidFill>
                <a:latin typeface="Arial"/>
                <a:ea typeface="Arial"/>
                <a:cs typeface="Arial"/>
                <a:sym typeface="Arial"/>
              </a:rPr>
              <a:t>Attack scenario and response timeline</a:t>
            </a:r>
            <a:endParaRPr sz="1100"/>
          </a:p>
        </p:txBody>
      </p:sp>
      <p:sp>
        <p:nvSpPr>
          <p:cNvPr id="219" name="Google Shape;219;p38"/>
          <p:cNvSpPr/>
          <p:nvPr/>
        </p:nvSpPr>
        <p:spPr>
          <a:xfrm>
            <a:off x="562371" y="2859786"/>
            <a:ext cx="3943455" cy="1131570"/>
          </a:xfrm>
          <a:prstGeom prst="roundRect">
            <a:avLst>
              <a:gd fmla="val 16667" name="adj"/>
            </a:avLst>
          </a:prstGeom>
          <a:solidFill>
            <a:srgbClr val="EE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8"/>
          <p:cNvSpPr txBox="1"/>
          <p:nvPr/>
        </p:nvSpPr>
        <p:spPr>
          <a:xfrm>
            <a:off x="894629" y="3065526"/>
            <a:ext cx="333044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19314B"/>
                </a:solidFill>
                <a:latin typeface="Arial"/>
                <a:ea typeface="Arial"/>
                <a:cs typeface="Arial"/>
                <a:sym typeface="Arial"/>
              </a:rPr>
              <a:t>Lessons Learned</a:t>
            </a:r>
            <a:endParaRPr sz="1100"/>
          </a:p>
        </p:txBody>
      </p:sp>
      <p:sp>
        <p:nvSpPr>
          <p:cNvPr id="221" name="Google Shape;221;p38"/>
          <p:cNvSpPr txBox="1"/>
          <p:nvPr/>
        </p:nvSpPr>
        <p:spPr>
          <a:xfrm>
            <a:off x="894629" y="3470148"/>
            <a:ext cx="329615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05E6A"/>
                </a:solidFill>
                <a:latin typeface="Arial"/>
                <a:ea typeface="Arial"/>
                <a:cs typeface="Arial"/>
                <a:sym typeface="Arial"/>
              </a:rPr>
              <a:t>Team strengths and areas to improve</a:t>
            </a:r>
            <a:endParaRPr sz="1100"/>
          </a:p>
        </p:txBody>
      </p:sp>
      <p:sp>
        <p:nvSpPr>
          <p:cNvPr id="222" name="Google Shape;222;p38"/>
          <p:cNvSpPr/>
          <p:nvPr/>
        </p:nvSpPr>
        <p:spPr>
          <a:xfrm>
            <a:off x="4814444" y="2859786"/>
            <a:ext cx="3943455" cy="1131570"/>
          </a:xfrm>
          <a:prstGeom prst="roundRect">
            <a:avLst>
              <a:gd fmla="val 16667" name="adj"/>
            </a:avLst>
          </a:prstGeom>
          <a:solidFill>
            <a:srgbClr val="EE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8"/>
          <p:cNvSpPr txBox="1"/>
          <p:nvPr/>
        </p:nvSpPr>
        <p:spPr>
          <a:xfrm>
            <a:off x="5146703" y="3065526"/>
            <a:ext cx="3330449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19314B"/>
                </a:solidFill>
                <a:latin typeface="Arial"/>
                <a:ea typeface="Arial"/>
                <a:cs typeface="Arial"/>
                <a:sym typeface="Arial"/>
              </a:rPr>
              <a:t>Course Takeaways</a:t>
            </a:r>
            <a:endParaRPr sz="1100"/>
          </a:p>
        </p:txBody>
      </p:sp>
      <p:sp>
        <p:nvSpPr>
          <p:cNvPr id="224" name="Google Shape;224;p38"/>
          <p:cNvSpPr txBox="1"/>
          <p:nvPr/>
        </p:nvSpPr>
        <p:spPr>
          <a:xfrm>
            <a:off x="5146703" y="3470148"/>
            <a:ext cx="3296158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05E6A"/>
                </a:solidFill>
                <a:latin typeface="Arial"/>
                <a:ea typeface="Arial"/>
                <a:cs typeface="Arial"/>
                <a:sym typeface="Arial"/>
              </a:rPr>
              <a:t>Key cybersecurity principles</a:t>
            </a:r>
            <a:endParaRPr sz="1100"/>
          </a:p>
        </p:txBody>
      </p:sp>
      <p:pic>
        <p:nvPicPr>
          <p:cNvPr id="225" name="Google Shape;22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0" y="0"/>
            <a:ext cx="31622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9525" y="0"/>
            <a:ext cx="1544475" cy="19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9"/>
          <p:cNvSpPr txBox="1"/>
          <p:nvPr/>
        </p:nvSpPr>
        <p:spPr>
          <a:xfrm>
            <a:off x="480073" y="294894"/>
            <a:ext cx="8229819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1B2D46"/>
                </a:solidFill>
                <a:latin typeface="Arial"/>
                <a:ea typeface="Arial"/>
                <a:cs typeface="Arial"/>
                <a:sym typeface="Arial"/>
              </a:rPr>
              <a:t>Linux + Windows  |  System Hardening</a:t>
            </a:r>
            <a:endParaRPr sz="1100"/>
          </a:p>
        </p:txBody>
      </p:sp>
      <p:sp>
        <p:nvSpPr>
          <p:cNvPr id="232" name="Google Shape;232;p39"/>
          <p:cNvSpPr txBox="1"/>
          <p:nvPr/>
        </p:nvSpPr>
        <p:spPr>
          <a:xfrm>
            <a:off x="493789" y="795528"/>
            <a:ext cx="7544001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5B6977"/>
                </a:solidFill>
                <a:latin typeface="Arial"/>
                <a:ea typeface="Arial"/>
                <a:cs typeface="Arial"/>
                <a:sym typeface="Arial"/>
              </a:rPr>
              <a:t>Six shared security improvements implemented across both systems</a:t>
            </a:r>
            <a:endParaRPr sz="1100"/>
          </a:p>
        </p:txBody>
      </p:sp>
      <p:sp>
        <p:nvSpPr>
          <p:cNvPr id="233" name="Google Shape;233;p39"/>
          <p:cNvSpPr/>
          <p:nvPr/>
        </p:nvSpPr>
        <p:spPr>
          <a:xfrm>
            <a:off x="493789" y="1255014"/>
            <a:ext cx="4087477" cy="980694"/>
          </a:xfrm>
          <a:prstGeom prst="roundRect">
            <a:avLst>
              <a:gd fmla="val 16667" name="adj"/>
            </a:avLst>
          </a:prstGeom>
          <a:solidFill>
            <a:srgbClr val="F6F9FB"/>
          </a:solidFill>
          <a:ln cap="flat" cmpd="sng" w="9525">
            <a:solidFill>
              <a:srgbClr val="E0E7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9"/>
          <p:cNvSpPr txBox="1"/>
          <p:nvPr/>
        </p:nvSpPr>
        <p:spPr>
          <a:xfrm>
            <a:off x="651527" y="1392174"/>
            <a:ext cx="37720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0808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00"/>
          </a:p>
        </p:txBody>
      </p:sp>
      <p:sp>
        <p:nvSpPr>
          <p:cNvPr id="235" name="Google Shape;235;p39"/>
          <p:cNvSpPr txBox="1"/>
          <p:nvPr/>
        </p:nvSpPr>
        <p:spPr>
          <a:xfrm>
            <a:off x="1076734" y="1371600"/>
            <a:ext cx="3326219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B2D46"/>
                </a:solidFill>
                <a:latin typeface="Arial"/>
                <a:ea typeface="Arial"/>
                <a:cs typeface="Arial"/>
                <a:sym typeface="Arial"/>
              </a:rPr>
              <a:t>Firewall &amp; Network</a:t>
            </a:r>
            <a:endParaRPr sz="1100"/>
          </a:p>
        </p:txBody>
      </p:sp>
      <p:sp>
        <p:nvSpPr>
          <p:cNvPr id="236" name="Google Shape;236;p39"/>
          <p:cNvSpPr txBox="1"/>
          <p:nvPr/>
        </p:nvSpPr>
        <p:spPr>
          <a:xfrm>
            <a:off x="1076734" y="1714500"/>
            <a:ext cx="3291928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B6977"/>
                </a:solidFill>
                <a:latin typeface="Arial"/>
                <a:ea typeface="Arial"/>
                <a:cs typeface="Arial"/>
                <a:sym typeface="Arial"/>
              </a:rPr>
              <a:t>UFW + Windows Firewall; restricted access</a:t>
            </a:r>
            <a:endParaRPr sz="1100"/>
          </a:p>
        </p:txBody>
      </p:sp>
      <p:sp>
        <p:nvSpPr>
          <p:cNvPr id="237" name="Google Shape;237;p39"/>
          <p:cNvSpPr/>
          <p:nvPr/>
        </p:nvSpPr>
        <p:spPr>
          <a:xfrm>
            <a:off x="4835019" y="1255014"/>
            <a:ext cx="4087477" cy="980694"/>
          </a:xfrm>
          <a:prstGeom prst="roundRect">
            <a:avLst>
              <a:gd fmla="val 16667" name="adj"/>
            </a:avLst>
          </a:prstGeom>
          <a:solidFill>
            <a:srgbClr val="F6F9FB"/>
          </a:solidFill>
          <a:ln cap="flat" cmpd="sng" w="9525">
            <a:solidFill>
              <a:srgbClr val="E0E7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9"/>
          <p:cNvSpPr txBox="1"/>
          <p:nvPr/>
        </p:nvSpPr>
        <p:spPr>
          <a:xfrm>
            <a:off x="4992757" y="1392174"/>
            <a:ext cx="37720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0808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/>
          </a:p>
        </p:txBody>
      </p:sp>
      <p:sp>
        <p:nvSpPr>
          <p:cNvPr id="239" name="Google Shape;239;p39"/>
          <p:cNvSpPr txBox="1"/>
          <p:nvPr/>
        </p:nvSpPr>
        <p:spPr>
          <a:xfrm>
            <a:off x="5417964" y="1371600"/>
            <a:ext cx="3326219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B2D46"/>
                </a:solidFill>
                <a:latin typeface="Arial"/>
                <a:ea typeface="Arial"/>
                <a:cs typeface="Arial"/>
                <a:sym typeface="Arial"/>
              </a:rPr>
              <a:t>Stronger Authentication</a:t>
            </a:r>
            <a:endParaRPr sz="1100"/>
          </a:p>
        </p:txBody>
      </p:sp>
      <p:sp>
        <p:nvSpPr>
          <p:cNvPr id="240" name="Google Shape;240;p39"/>
          <p:cNvSpPr txBox="1"/>
          <p:nvPr/>
        </p:nvSpPr>
        <p:spPr>
          <a:xfrm>
            <a:off x="5417964" y="1714500"/>
            <a:ext cx="3291928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B6977"/>
                </a:solidFill>
                <a:latin typeface="Arial"/>
                <a:ea typeface="Arial"/>
                <a:cs typeface="Arial"/>
                <a:sym typeface="Arial"/>
              </a:rPr>
              <a:t>SSH keys; 12–14 character password policies</a:t>
            </a:r>
            <a:endParaRPr sz="1100"/>
          </a:p>
        </p:txBody>
      </p:sp>
      <p:sp>
        <p:nvSpPr>
          <p:cNvPr id="241" name="Google Shape;241;p39"/>
          <p:cNvSpPr/>
          <p:nvPr/>
        </p:nvSpPr>
        <p:spPr>
          <a:xfrm>
            <a:off x="493789" y="2420874"/>
            <a:ext cx="4087477" cy="980694"/>
          </a:xfrm>
          <a:prstGeom prst="roundRect">
            <a:avLst>
              <a:gd fmla="val 16667" name="adj"/>
            </a:avLst>
          </a:prstGeom>
          <a:solidFill>
            <a:srgbClr val="F6F9FB"/>
          </a:solidFill>
          <a:ln cap="flat" cmpd="sng" w="9525">
            <a:solidFill>
              <a:srgbClr val="E0E7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9"/>
          <p:cNvSpPr txBox="1"/>
          <p:nvPr/>
        </p:nvSpPr>
        <p:spPr>
          <a:xfrm>
            <a:off x="651527" y="2558034"/>
            <a:ext cx="37720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0808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/>
          </a:p>
        </p:txBody>
      </p:sp>
      <p:sp>
        <p:nvSpPr>
          <p:cNvPr id="243" name="Google Shape;243;p39"/>
          <p:cNvSpPr txBox="1"/>
          <p:nvPr/>
        </p:nvSpPr>
        <p:spPr>
          <a:xfrm>
            <a:off x="1076734" y="2537460"/>
            <a:ext cx="3326219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B2D46"/>
                </a:solidFill>
                <a:latin typeface="Arial"/>
                <a:ea typeface="Arial"/>
                <a:cs typeface="Arial"/>
                <a:sym typeface="Arial"/>
              </a:rPr>
              <a:t>Account Security</a:t>
            </a:r>
            <a:endParaRPr sz="1100"/>
          </a:p>
        </p:txBody>
      </p:sp>
      <p:sp>
        <p:nvSpPr>
          <p:cNvPr id="244" name="Google Shape;244;p39"/>
          <p:cNvSpPr txBox="1"/>
          <p:nvPr/>
        </p:nvSpPr>
        <p:spPr>
          <a:xfrm>
            <a:off x="1076734" y="2880360"/>
            <a:ext cx="3291928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B6977"/>
                </a:solidFill>
                <a:latin typeface="Arial"/>
                <a:ea typeface="Arial"/>
                <a:cs typeface="Arial"/>
                <a:sym typeface="Arial"/>
              </a:rPr>
              <a:t>Individual accounts; privilege controls</a:t>
            </a:r>
            <a:endParaRPr sz="1100"/>
          </a:p>
        </p:txBody>
      </p:sp>
      <p:sp>
        <p:nvSpPr>
          <p:cNvPr id="245" name="Google Shape;245;p39"/>
          <p:cNvSpPr/>
          <p:nvPr/>
        </p:nvSpPr>
        <p:spPr>
          <a:xfrm>
            <a:off x="4835019" y="2420874"/>
            <a:ext cx="4087477" cy="980694"/>
          </a:xfrm>
          <a:prstGeom prst="roundRect">
            <a:avLst>
              <a:gd fmla="val 16667" name="adj"/>
            </a:avLst>
          </a:prstGeom>
          <a:solidFill>
            <a:srgbClr val="F6F9FB"/>
          </a:solidFill>
          <a:ln cap="flat" cmpd="sng" w="9525">
            <a:solidFill>
              <a:srgbClr val="E0E7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9"/>
          <p:cNvSpPr txBox="1"/>
          <p:nvPr/>
        </p:nvSpPr>
        <p:spPr>
          <a:xfrm>
            <a:off x="4992757" y="2558034"/>
            <a:ext cx="37720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0808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100"/>
          </a:p>
        </p:txBody>
      </p:sp>
      <p:sp>
        <p:nvSpPr>
          <p:cNvPr id="247" name="Google Shape;247;p39"/>
          <p:cNvSpPr txBox="1"/>
          <p:nvPr/>
        </p:nvSpPr>
        <p:spPr>
          <a:xfrm>
            <a:off x="5417964" y="2537460"/>
            <a:ext cx="3326219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B2D46"/>
                </a:solidFill>
                <a:latin typeface="Arial"/>
                <a:ea typeface="Arial"/>
                <a:cs typeface="Arial"/>
                <a:sym typeface="Arial"/>
              </a:rPr>
              <a:t>Threat Protection</a:t>
            </a:r>
            <a:endParaRPr sz="1100"/>
          </a:p>
        </p:txBody>
      </p:sp>
      <p:sp>
        <p:nvSpPr>
          <p:cNvPr id="248" name="Google Shape;248;p39"/>
          <p:cNvSpPr txBox="1"/>
          <p:nvPr/>
        </p:nvSpPr>
        <p:spPr>
          <a:xfrm>
            <a:off x="5417964" y="2880360"/>
            <a:ext cx="3291928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B6977"/>
                </a:solidFill>
                <a:latin typeface="Arial"/>
                <a:ea typeface="Arial"/>
                <a:cs typeface="Arial"/>
                <a:sym typeface="Arial"/>
              </a:rPr>
              <a:t>ClamAV + Microsoft Defender</a:t>
            </a:r>
            <a:endParaRPr sz="1100"/>
          </a:p>
        </p:txBody>
      </p:sp>
      <p:sp>
        <p:nvSpPr>
          <p:cNvPr id="249" name="Google Shape;249;p39"/>
          <p:cNvSpPr/>
          <p:nvPr/>
        </p:nvSpPr>
        <p:spPr>
          <a:xfrm>
            <a:off x="493789" y="3586734"/>
            <a:ext cx="4087477" cy="980694"/>
          </a:xfrm>
          <a:prstGeom prst="roundRect">
            <a:avLst>
              <a:gd fmla="val 16667" name="adj"/>
            </a:avLst>
          </a:prstGeom>
          <a:solidFill>
            <a:srgbClr val="F6F9FB"/>
          </a:solidFill>
          <a:ln cap="flat" cmpd="sng" w="9525">
            <a:solidFill>
              <a:srgbClr val="E0E7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9"/>
          <p:cNvSpPr txBox="1"/>
          <p:nvPr/>
        </p:nvSpPr>
        <p:spPr>
          <a:xfrm>
            <a:off x="651527" y="3723894"/>
            <a:ext cx="37720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0808E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100"/>
          </a:p>
        </p:txBody>
      </p:sp>
      <p:sp>
        <p:nvSpPr>
          <p:cNvPr id="251" name="Google Shape;251;p39"/>
          <p:cNvSpPr txBox="1"/>
          <p:nvPr/>
        </p:nvSpPr>
        <p:spPr>
          <a:xfrm>
            <a:off x="1076734" y="3703320"/>
            <a:ext cx="3326219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B2D46"/>
                </a:solidFill>
                <a:latin typeface="Arial"/>
                <a:ea typeface="Arial"/>
                <a:cs typeface="Arial"/>
                <a:sym typeface="Arial"/>
              </a:rPr>
              <a:t>Logging &amp; Monitoring</a:t>
            </a:r>
            <a:endParaRPr sz="1100"/>
          </a:p>
        </p:txBody>
      </p:sp>
      <p:sp>
        <p:nvSpPr>
          <p:cNvPr id="252" name="Google Shape;252;p39"/>
          <p:cNvSpPr txBox="1"/>
          <p:nvPr/>
        </p:nvSpPr>
        <p:spPr>
          <a:xfrm>
            <a:off x="1076734" y="4046220"/>
            <a:ext cx="3291928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B6977"/>
                </a:solidFill>
                <a:latin typeface="Arial"/>
                <a:ea typeface="Arial"/>
                <a:cs typeface="Arial"/>
                <a:sym typeface="Arial"/>
              </a:rPr>
              <a:t>Auditd, AIDE + Windows/PowerShell logs</a:t>
            </a:r>
            <a:endParaRPr sz="1100"/>
          </a:p>
        </p:txBody>
      </p:sp>
      <p:sp>
        <p:nvSpPr>
          <p:cNvPr id="253" name="Google Shape;253;p39"/>
          <p:cNvSpPr/>
          <p:nvPr/>
        </p:nvSpPr>
        <p:spPr>
          <a:xfrm>
            <a:off x="4835019" y="3586734"/>
            <a:ext cx="4087477" cy="980694"/>
          </a:xfrm>
          <a:prstGeom prst="roundRect">
            <a:avLst>
              <a:gd fmla="val 16667" name="adj"/>
            </a:avLst>
          </a:prstGeom>
          <a:solidFill>
            <a:srgbClr val="F6F9FB"/>
          </a:solidFill>
          <a:ln cap="flat" cmpd="sng" w="9525">
            <a:solidFill>
              <a:srgbClr val="E0E7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9"/>
          <p:cNvSpPr txBox="1"/>
          <p:nvPr/>
        </p:nvSpPr>
        <p:spPr>
          <a:xfrm>
            <a:off x="4992757" y="3723894"/>
            <a:ext cx="377200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0808E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100"/>
          </a:p>
        </p:txBody>
      </p:sp>
      <p:sp>
        <p:nvSpPr>
          <p:cNvPr id="255" name="Google Shape;255;p39"/>
          <p:cNvSpPr txBox="1"/>
          <p:nvPr/>
        </p:nvSpPr>
        <p:spPr>
          <a:xfrm>
            <a:off x="5417964" y="3703320"/>
            <a:ext cx="3326219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B2D46"/>
                </a:solidFill>
                <a:latin typeface="Arial"/>
                <a:ea typeface="Arial"/>
                <a:cs typeface="Arial"/>
                <a:sym typeface="Arial"/>
              </a:rPr>
              <a:t>Attack Surface Reduction</a:t>
            </a:r>
            <a:endParaRPr sz="1100"/>
          </a:p>
        </p:txBody>
      </p:sp>
      <p:sp>
        <p:nvSpPr>
          <p:cNvPr id="256" name="Google Shape;256;p39"/>
          <p:cNvSpPr txBox="1"/>
          <p:nvPr/>
        </p:nvSpPr>
        <p:spPr>
          <a:xfrm>
            <a:off x="5417964" y="4046220"/>
            <a:ext cx="3291928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5B6977"/>
                </a:solidFill>
                <a:latin typeface="Arial"/>
                <a:ea typeface="Arial"/>
                <a:cs typeface="Arial"/>
                <a:sym typeface="Arial"/>
              </a:rPr>
              <a:t>Security updates; unnecessary services disabled</a:t>
            </a:r>
            <a:endParaRPr sz="1100"/>
          </a:p>
        </p:txBody>
      </p:sp>
      <p:sp>
        <p:nvSpPr>
          <p:cNvPr id="257" name="Google Shape;257;p39"/>
          <p:cNvSpPr txBox="1"/>
          <p:nvPr/>
        </p:nvSpPr>
        <p:spPr>
          <a:xfrm>
            <a:off x="514364" y="4882896"/>
            <a:ext cx="7544100" cy="2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258" name="Google Shape;25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0" y="0"/>
            <a:ext cx="31622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9525" y="0"/>
            <a:ext cx="1544475" cy="19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0" y="0"/>
            <a:ext cx="31622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9525" y="0"/>
            <a:ext cx="1544475" cy="19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40"/>
          <p:cNvSpPr txBox="1"/>
          <p:nvPr/>
        </p:nvSpPr>
        <p:spPr>
          <a:xfrm>
            <a:off x="418500" y="252950"/>
            <a:ext cx="8725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B2D46"/>
                </a:solidFill>
              </a:rPr>
              <a:t>Summary of Attack Scenario</a:t>
            </a:r>
            <a:endParaRPr b="1" sz="2300">
              <a:solidFill>
                <a:srgbClr val="1B2D46"/>
              </a:solidFill>
            </a:endParaRPr>
          </a:p>
        </p:txBody>
      </p:sp>
      <p:sp>
        <p:nvSpPr>
          <p:cNvPr id="267" name="Google Shape;267;p40"/>
          <p:cNvSpPr/>
          <p:nvPr/>
        </p:nvSpPr>
        <p:spPr>
          <a:xfrm>
            <a:off x="418500" y="791748"/>
            <a:ext cx="17451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1000" lIns="62050" spcFirstLastPara="1" rIns="62050" wrap="square" tIns="3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85">
                <a:solidFill>
                  <a:srgbClr val="285A91"/>
                </a:solidFill>
              </a:rPr>
              <a:t>Identify</a:t>
            </a:r>
            <a:endParaRPr sz="950"/>
          </a:p>
        </p:txBody>
      </p:sp>
      <p:sp>
        <p:nvSpPr>
          <p:cNvPr id="268" name="Google Shape;268;p40"/>
          <p:cNvSpPr/>
          <p:nvPr/>
        </p:nvSpPr>
        <p:spPr>
          <a:xfrm>
            <a:off x="2292862" y="843454"/>
            <a:ext cx="52353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1000" lIns="62050" spcFirstLastPara="1" rIns="62050" wrap="square" tIns="3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25">
                <a:solidFill>
                  <a:srgbClr val="526174"/>
                </a:solidFill>
              </a:rPr>
              <a:t>| 10:36–10:58 AM:</a:t>
            </a:r>
            <a:endParaRPr sz="950"/>
          </a:p>
        </p:txBody>
      </p:sp>
      <p:sp>
        <p:nvSpPr>
          <p:cNvPr id="269" name="Google Shape;269;p40"/>
          <p:cNvSpPr/>
          <p:nvPr/>
        </p:nvSpPr>
        <p:spPr>
          <a:xfrm>
            <a:off x="2292862" y="1179547"/>
            <a:ext cx="51384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1000" lIns="62050" spcFirstLastPara="1" rIns="62050" wrap="square" tIns="3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25">
                <a:solidFill>
                  <a:srgbClr val="1E293B"/>
                </a:solidFill>
              </a:rPr>
              <a:t>Investigated phishing, impersonation, and unauthorized privileged access.</a:t>
            </a:r>
            <a:endParaRPr sz="950"/>
          </a:p>
        </p:txBody>
      </p:sp>
      <p:sp>
        <p:nvSpPr>
          <p:cNvPr id="270" name="Google Shape;270;p40"/>
          <p:cNvSpPr/>
          <p:nvPr/>
        </p:nvSpPr>
        <p:spPr>
          <a:xfrm>
            <a:off x="418500" y="1651369"/>
            <a:ext cx="7303800" cy="6300"/>
          </a:xfrm>
          <a:prstGeom prst="rect">
            <a:avLst/>
          </a:prstGeom>
          <a:solidFill>
            <a:srgbClr val="DFE5EC"/>
          </a:solidFill>
          <a:ln>
            <a:noFill/>
          </a:ln>
        </p:spPr>
        <p:txBody>
          <a:bodyPr anchorCtr="0" anchor="ctr" bIns="62050" lIns="62050" spcFirstLastPara="1" rIns="62050" wrap="square" tIns="62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40"/>
          <p:cNvSpPr/>
          <p:nvPr/>
        </p:nvSpPr>
        <p:spPr>
          <a:xfrm>
            <a:off x="418500" y="1761245"/>
            <a:ext cx="17451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1000" lIns="62050" spcFirstLastPara="1" rIns="62050" wrap="square" tIns="3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85">
                <a:solidFill>
                  <a:srgbClr val="A15F22"/>
                </a:solidFill>
              </a:rPr>
              <a:t>Contain</a:t>
            </a:r>
            <a:endParaRPr sz="950"/>
          </a:p>
        </p:txBody>
      </p:sp>
      <p:sp>
        <p:nvSpPr>
          <p:cNvPr id="272" name="Google Shape;272;p40"/>
          <p:cNvSpPr/>
          <p:nvPr/>
        </p:nvSpPr>
        <p:spPr>
          <a:xfrm>
            <a:off x="2292862" y="1812952"/>
            <a:ext cx="52353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1000" lIns="62050" spcFirstLastPara="1" rIns="62050" wrap="square" tIns="3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25">
                <a:solidFill>
                  <a:srgbClr val="526174"/>
                </a:solidFill>
              </a:rPr>
              <a:t>| 10:58–11:46 AM:</a:t>
            </a:r>
            <a:endParaRPr sz="950"/>
          </a:p>
        </p:txBody>
      </p:sp>
      <p:sp>
        <p:nvSpPr>
          <p:cNvPr id="273" name="Google Shape;273;p40"/>
          <p:cNvSpPr/>
          <p:nvPr/>
        </p:nvSpPr>
        <p:spPr>
          <a:xfrm>
            <a:off x="2292862" y="2149044"/>
            <a:ext cx="51384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1000" lIns="62050" spcFirstLastPara="1" rIns="62050" wrap="square" tIns="3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25">
                <a:solidFill>
                  <a:srgbClr val="1E293B"/>
                </a:solidFill>
              </a:rPr>
              <a:t>Disabled compromised accounts and restricted affected systems.</a:t>
            </a:r>
            <a:endParaRPr sz="950"/>
          </a:p>
        </p:txBody>
      </p:sp>
      <p:sp>
        <p:nvSpPr>
          <p:cNvPr id="274" name="Google Shape;274;p40"/>
          <p:cNvSpPr/>
          <p:nvPr/>
        </p:nvSpPr>
        <p:spPr>
          <a:xfrm>
            <a:off x="418500" y="2620866"/>
            <a:ext cx="7303800" cy="6300"/>
          </a:xfrm>
          <a:prstGeom prst="rect">
            <a:avLst/>
          </a:prstGeom>
          <a:solidFill>
            <a:srgbClr val="DFE5EC"/>
          </a:solidFill>
          <a:ln>
            <a:noFill/>
          </a:ln>
        </p:spPr>
        <p:txBody>
          <a:bodyPr anchorCtr="0" anchor="ctr" bIns="62050" lIns="62050" spcFirstLastPara="1" rIns="62050" wrap="square" tIns="62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40"/>
          <p:cNvSpPr/>
          <p:nvPr/>
        </p:nvSpPr>
        <p:spPr>
          <a:xfrm>
            <a:off x="418500" y="2730743"/>
            <a:ext cx="17451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1000" lIns="62050" spcFirstLastPara="1" rIns="62050" wrap="square" tIns="3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85">
                <a:solidFill>
                  <a:srgbClr val="75519B"/>
                </a:solidFill>
              </a:rPr>
              <a:t>Eradicate</a:t>
            </a:r>
            <a:endParaRPr sz="950"/>
          </a:p>
        </p:txBody>
      </p:sp>
      <p:sp>
        <p:nvSpPr>
          <p:cNvPr id="276" name="Google Shape;276;p40"/>
          <p:cNvSpPr/>
          <p:nvPr/>
        </p:nvSpPr>
        <p:spPr>
          <a:xfrm>
            <a:off x="2292862" y="2782449"/>
            <a:ext cx="52353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1000" lIns="62050" spcFirstLastPara="1" rIns="62050" wrap="square" tIns="3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25">
                <a:solidFill>
                  <a:srgbClr val="526174"/>
                </a:solidFill>
              </a:rPr>
              <a:t>| 11:46 AM–12:00 PM:</a:t>
            </a:r>
            <a:endParaRPr sz="950"/>
          </a:p>
        </p:txBody>
      </p:sp>
      <p:sp>
        <p:nvSpPr>
          <p:cNvPr id="277" name="Google Shape;277;p40"/>
          <p:cNvSpPr/>
          <p:nvPr/>
        </p:nvSpPr>
        <p:spPr>
          <a:xfrm>
            <a:off x="2292862" y="3118542"/>
            <a:ext cx="51384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1000" lIns="62050" spcFirstLastPara="1" rIns="62050" wrap="square" tIns="3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25">
                <a:solidFill>
                  <a:srgbClr val="1E293B"/>
                </a:solidFill>
              </a:rPr>
              <a:t>Removed malicious artifacts and reset exposed credentials.</a:t>
            </a:r>
            <a:endParaRPr sz="950"/>
          </a:p>
        </p:txBody>
      </p:sp>
      <p:sp>
        <p:nvSpPr>
          <p:cNvPr id="278" name="Google Shape;278;p40"/>
          <p:cNvSpPr/>
          <p:nvPr/>
        </p:nvSpPr>
        <p:spPr>
          <a:xfrm>
            <a:off x="418500" y="3590364"/>
            <a:ext cx="7303800" cy="6300"/>
          </a:xfrm>
          <a:prstGeom prst="rect">
            <a:avLst/>
          </a:prstGeom>
          <a:solidFill>
            <a:srgbClr val="DFE5EC"/>
          </a:solidFill>
          <a:ln>
            <a:noFill/>
          </a:ln>
        </p:spPr>
        <p:txBody>
          <a:bodyPr anchorCtr="0" anchor="ctr" bIns="62050" lIns="62050" spcFirstLastPara="1" rIns="62050" wrap="square" tIns="62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40"/>
          <p:cNvSpPr/>
          <p:nvPr/>
        </p:nvSpPr>
        <p:spPr>
          <a:xfrm>
            <a:off x="418500" y="3700240"/>
            <a:ext cx="17451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1000" lIns="62050" spcFirstLastPara="1" rIns="62050" wrap="square" tIns="3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85">
                <a:solidFill>
                  <a:srgbClr val="22776B"/>
                </a:solidFill>
              </a:rPr>
              <a:t>Recover</a:t>
            </a:r>
            <a:endParaRPr sz="950"/>
          </a:p>
        </p:txBody>
      </p:sp>
      <p:sp>
        <p:nvSpPr>
          <p:cNvPr id="280" name="Google Shape;280;p40"/>
          <p:cNvSpPr/>
          <p:nvPr/>
        </p:nvSpPr>
        <p:spPr>
          <a:xfrm>
            <a:off x="2292862" y="3751947"/>
            <a:ext cx="52353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1000" lIns="62050" spcFirstLastPara="1" rIns="62050" wrap="square" tIns="3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25">
                <a:solidFill>
                  <a:srgbClr val="526174"/>
                </a:solidFill>
              </a:rPr>
              <a:t>| 12:00–12:01 PM:</a:t>
            </a:r>
            <a:endParaRPr sz="950"/>
          </a:p>
        </p:txBody>
      </p:sp>
      <p:sp>
        <p:nvSpPr>
          <p:cNvPr id="281" name="Google Shape;281;p40"/>
          <p:cNvSpPr/>
          <p:nvPr/>
        </p:nvSpPr>
        <p:spPr>
          <a:xfrm>
            <a:off x="2292862" y="4088039"/>
            <a:ext cx="51384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1000" lIns="62050" spcFirstLastPara="1" rIns="62050" wrap="square" tIns="3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25">
                <a:solidFill>
                  <a:srgbClr val="1E293B"/>
                </a:solidFill>
              </a:rPr>
              <a:t>Restored web services.</a:t>
            </a:r>
            <a:endParaRPr sz="9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1"/>
          <p:cNvSpPr txBox="1"/>
          <p:nvPr/>
        </p:nvSpPr>
        <p:spPr>
          <a:xfrm>
            <a:off x="514364" y="30861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Lessons Learned</a:t>
            </a:r>
            <a:endParaRPr sz="1100"/>
          </a:p>
        </p:txBody>
      </p:sp>
      <p:sp>
        <p:nvSpPr>
          <p:cNvPr id="287" name="Google Shape;287;p41"/>
          <p:cNvSpPr txBox="1"/>
          <p:nvPr/>
        </p:nvSpPr>
        <p:spPr>
          <a:xfrm>
            <a:off x="548655" y="1131570"/>
            <a:ext cx="397774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46E5F"/>
                </a:solidFill>
                <a:latin typeface="Arial"/>
                <a:ea typeface="Arial"/>
                <a:cs typeface="Arial"/>
                <a:sym typeface="Arial"/>
              </a:rPr>
              <a:t>WHAT WENT WELL</a:t>
            </a:r>
            <a:endParaRPr sz="1100"/>
          </a:p>
        </p:txBody>
      </p:sp>
      <p:sp>
        <p:nvSpPr>
          <p:cNvPr id="288" name="Google Shape;288;p41"/>
          <p:cNvSpPr txBox="1"/>
          <p:nvPr/>
        </p:nvSpPr>
        <p:spPr>
          <a:xfrm>
            <a:off x="4800728" y="1131570"/>
            <a:ext cx="377200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AF5F28"/>
                </a:solidFill>
                <a:latin typeface="Arial"/>
                <a:ea typeface="Arial"/>
                <a:cs typeface="Arial"/>
                <a:sym typeface="Arial"/>
              </a:rPr>
              <a:t>AREAS TO IMPROVE</a:t>
            </a:r>
            <a:endParaRPr sz="1100"/>
          </a:p>
        </p:txBody>
      </p:sp>
      <p:sp>
        <p:nvSpPr>
          <p:cNvPr id="289" name="Google Shape;289;p41"/>
          <p:cNvSpPr txBox="1"/>
          <p:nvPr/>
        </p:nvSpPr>
        <p:spPr>
          <a:xfrm>
            <a:off x="617236" y="1611630"/>
            <a:ext cx="384058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 Strong teamwork</a:t>
            </a:r>
            <a:endParaRPr sz="1100"/>
          </a:p>
        </p:txBody>
      </p:sp>
      <p:sp>
        <p:nvSpPr>
          <p:cNvPr id="290" name="Google Shape;290;p41"/>
          <p:cNvSpPr txBox="1"/>
          <p:nvPr/>
        </p:nvSpPr>
        <p:spPr>
          <a:xfrm>
            <a:off x="617236" y="2146554"/>
            <a:ext cx="384058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 Clear communication</a:t>
            </a:r>
            <a:endParaRPr sz="1100"/>
          </a:p>
        </p:txBody>
      </p:sp>
      <p:sp>
        <p:nvSpPr>
          <p:cNvPr id="291" name="Google Shape;291;p41"/>
          <p:cNvSpPr txBox="1"/>
          <p:nvPr/>
        </p:nvSpPr>
        <p:spPr>
          <a:xfrm>
            <a:off x="617236" y="2681478"/>
            <a:ext cx="384058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 Detailed documentation</a:t>
            </a:r>
            <a:endParaRPr sz="1100"/>
          </a:p>
        </p:txBody>
      </p:sp>
      <p:sp>
        <p:nvSpPr>
          <p:cNvPr id="292" name="Google Shape;292;p41"/>
          <p:cNvSpPr txBox="1"/>
          <p:nvPr/>
        </p:nvSpPr>
        <p:spPr>
          <a:xfrm>
            <a:off x="617236" y="3216402"/>
            <a:ext cx="384058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 Calm leadership</a:t>
            </a:r>
            <a:endParaRPr sz="1100"/>
          </a:p>
        </p:txBody>
      </p:sp>
      <p:sp>
        <p:nvSpPr>
          <p:cNvPr id="293" name="Google Shape;293;p41"/>
          <p:cNvSpPr txBox="1"/>
          <p:nvPr/>
        </p:nvSpPr>
        <p:spPr>
          <a:xfrm>
            <a:off x="617236" y="3751326"/>
            <a:ext cx="384058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 Technical support</a:t>
            </a:r>
            <a:endParaRPr sz="1100"/>
          </a:p>
        </p:txBody>
      </p:sp>
      <p:sp>
        <p:nvSpPr>
          <p:cNvPr id="294" name="Google Shape;294;p41"/>
          <p:cNvSpPr txBox="1"/>
          <p:nvPr/>
        </p:nvSpPr>
        <p:spPr>
          <a:xfrm>
            <a:off x="4869310" y="1611630"/>
            <a:ext cx="3772001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 Follow IR sequence</a:t>
            </a:r>
            <a:endParaRPr sz="1100"/>
          </a:p>
        </p:txBody>
      </p:sp>
      <p:sp>
        <p:nvSpPr>
          <p:cNvPr id="295" name="Google Shape;295;p41"/>
          <p:cNvSpPr txBox="1"/>
          <p:nvPr/>
        </p:nvSpPr>
        <p:spPr>
          <a:xfrm>
            <a:off x="4869310" y="2146554"/>
            <a:ext cx="3772001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 Improve task organization</a:t>
            </a:r>
            <a:endParaRPr sz="1100"/>
          </a:p>
        </p:txBody>
      </p:sp>
      <p:sp>
        <p:nvSpPr>
          <p:cNvPr id="296" name="Google Shape;296;p41"/>
          <p:cNvSpPr txBox="1"/>
          <p:nvPr/>
        </p:nvSpPr>
        <p:spPr>
          <a:xfrm>
            <a:off x="4869310" y="2681478"/>
            <a:ext cx="3772001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 Clarify responsibilities</a:t>
            </a:r>
            <a:endParaRPr sz="1100"/>
          </a:p>
        </p:txBody>
      </p:sp>
      <p:sp>
        <p:nvSpPr>
          <p:cNvPr id="297" name="Google Shape;297;p41"/>
          <p:cNvSpPr txBox="1"/>
          <p:nvPr/>
        </p:nvSpPr>
        <p:spPr>
          <a:xfrm>
            <a:off x="4869310" y="3216402"/>
            <a:ext cx="3772001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 Notify leadership sooner</a:t>
            </a:r>
            <a:endParaRPr sz="1100"/>
          </a:p>
        </p:txBody>
      </p:sp>
      <p:sp>
        <p:nvSpPr>
          <p:cNvPr id="298" name="Google Shape;298;p41"/>
          <p:cNvSpPr txBox="1"/>
          <p:nvPr/>
        </p:nvSpPr>
        <p:spPr>
          <a:xfrm>
            <a:off x="4869310" y="3751326"/>
            <a:ext cx="3772001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•  Avoid unverified promises</a:t>
            </a:r>
            <a:endParaRPr sz="1100"/>
          </a:p>
        </p:txBody>
      </p:sp>
      <p:pic>
        <p:nvPicPr>
          <p:cNvPr id="299" name="Google Shape;29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0" y="0"/>
            <a:ext cx="31622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9525" y="0"/>
            <a:ext cx="1544475" cy="19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41"/>
          <p:cNvSpPr/>
          <p:nvPr/>
        </p:nvSpPr>
        <p:spPr>
          <a:xfrm>
            <a:off x="617236" y="925830"/>
            <a:ext cx="1371600" cy="24000"/>
          </a:xfrm>
          <a:prstGeom prst="rect">
            <a:avLst/>
          </a:prstGeom>
          <a:solidFill>
            <a:srgbClr val="19829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2"/>
          <p:cNvSpPr/>
          <p:nvPr/>
        </p:nvSpPr>
        <p:spPr>
          <a:xfrm>
            <a:off x="0" y="0"/>
            <a:ext cx="260611" cy="5143500"/>
          </a:xfrm>
          <a:prstGeom prst="rect">
            <a:avLst/>
          </a:prstGeom>
          <a:solidFill>
            <a:srgbClr val="19829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42"/>
          <p:cNvSpPr txBox="1"/>
          <p:nvPr/>
        </p:nvSpPr>
        <p:spPr>
          <a:xfrm>
            <a:off x="596662" y="397764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13700" spcFirstLastPara="1" rIns="137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081119"/>
                </a:solidFill>
                <a:latin typeface="Arial"/>
                <a:ea typeface="Arial"/>
                <a:cs typeface="Arial"/>
                <a:sym typeface="Arial"/>
              </a:rPr>
              <a:t>Biggest Course Takeaways</a:t>
            </a:r>
            <a:endParaRPr sz="1100"/>
          </a:p>
        </p:txBody>
      </p:sp>
      <p:sp>
        <p:nvSpPr>
          <p:cNvPr id="308" name="Google Shape;308;p42"/>
          <p:cNvSpPr/>
          <p:nvPr/>
        </p:nvSpPr>
        <p:spPr>
          <a:xfrm>
            <a:off x="617236" y="925830"/>
            <a:ext cx="1371637" cy="24003"/>
          </a:xfrm>
          <a:prstGeom prst="rect">
            <a:avLst/>
          </a:prstGeom>
          <a:solidFill>
            <a:srgbClr val="19829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42"/>
          <p:cNvSpPr/>
          <p:nvPr/>
        </p:nvSpPr>
        <p:spPr>
          <a:xfrm>
            <a:off x="706393" y="1200150"/>
            <a:ext cx="7852619" cy="459486"/>
          </a:xfrm>
          <a:prstGeom prst="roundRect">
            <a:avLst>
              <a:gd fmla="val 16667" name="adj"/>
            </a:avLst>
          </a:prstGeom>
          <a:solidFill>
            <a:srgbClr val="EEF6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42"/>
          <p:cNvSpPr/>
          <p:nvPr/>
        </p:nvSpPr>
        <p:spPr>
          <a:xfrm>
            <a:off x="603520" y="1189863"/>
            <a:ext cx="493789" cy="493776"/>
          </a:xfrm>
          <a:prstGeom prst="ellipse">
            <a:avLst/>
          </a:prstGeom>
          <a:solidFill>
            <a:srgbClr val="19829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42"/>
          <p:cNvSpPr txBox="1"/>
          <p:nvPr/>
        </p:nvSpPr>
        <p:spPr>
          <a:xfrm>
            <a:off x="665244" y="1285875"/>
            <a:ext cx="377200" cy="25374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13700" spcFirstLastPara="1" rIns="137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00"/>
          </a:p>
        </p:txBody>
      </p:sp>
      <p:sp>
        <p:nvSpPr>
          <p:cNvPr id="312" name="Google Shape;312;p42"/>
          <p:cNvSpPr txBox="1"/>
          <p:nvPr/>
        </p:nvSpPr>
        <p:spPr>
          <a:xfrm>
            <a:off x="1309913" y="1299591"/>
            <a:ext cx="699534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13700" spcFirstLastPara="1" rIns="137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D2B39"/>
                </a:solidFill>
                <a:latin typeface="Arial"/>
                <a:ea typeface="Arial"/>
                <a:cs typeface="Arial"/>
                <a:sym typeface="Arial"/>
              </a:rPr>
              <a:t>Protect human life above all else</a:t>
            </a:r>
            <a:endParaRPr sz="1100"/>
          </a:p>
        </p:txBody>
      </p:sp>
      <p:sp>
        <p:nvSpPr>
          <p:cNvPr id="313" name="Google Shape;313;p42"/>
          <p:cNvSpPr/>
          <p:nvPr/>
        </p:nvSpPr>
        <p:spPr>
          <a:xfrm>
            <a:off x="706393" y="1796796"/>
            <a:ext cx="7852619" cy="459486"/>
          </a:xfrm>
          <a:prstGeom prst="roundRect">
            <a:avLst>
              <a:gd fmla="val 16667" name="adj"/>
            </a:avLst>
          </a:prstGeom>
          <a:solidFill>
            <a:srgbClr val="EEF6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42"/>
          <p:cNvSpPr/>
          <p:nvPr/>
        </p:nvSpPr>
        <p:spPr>
          <a:xfrm>
            <a:off x="603520" y="1786509"/>
            <a:ext cx="493789" cy="493776"/>
          </a:xfrm>
          <a:prstGeom prst="ellipse">
            <a:avLst/>
          </a:prstGeom>
          <a:solidFill>
            <a:srgbClr val="19829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42"/>
          <p:cNvSpPr txBox="1"/>
          <p:nvPr/>
        </p:nvSpPr>
        <p:spPr>
          <a:xfrm>
            <a:off x="665244" y="1882521"/>
            <a:ext cx="377200" cy="25374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13700" spcFirstLastPara="1" rIns="137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/>
          </a:p>
        </p:txBody>
      </p:sp>
      <p:sp>
        <p:nvSpPr>
          <p:cNvPr id="316" name="Google Shape;316;p42"/>
          <p:cNvSpPr txBox="1"/>
          <p:nvPr/>
        </p:nvSpPr>
        <p:spPr>
          <a:xfrm>
            <a:off x="1309913" y="1896237"/>
            <a:ext cx="699534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13700" spcFirstLastPara="1" rIns="137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D2B39"/>
                </a:solidFill>
                <a:latin typeface="Arial"/>
                <a:ea typeface="Arial"/>
                <a:cs typeface="Arial"/>
                <a:sym typeface="Arial"/>
              </a:rPr>
              <a:t>Plan proactively to execute effectively</a:t>
            </a:r>
            <a:endParaRPr sz="1100"/>
          </a:p>
        </p:txBody>
      </p:sp>
      <p:sp>
        <p:nvSpPr>
          <p:cNvPr id="317" name="Google Shape;317;p42"/>
          <p:cNvSpPr/>
          <p:nvPr/>
        </p:nvSpPr>
        <p:spPr>
          <a:xfrm>
            <a:off x="706393" y="2393442"/>
            <a:ext cx="7852619" cy="459486"/>
          </a:xfrm>
          <a:prstGeom prst="roundRect">
            <a:avLst>
              <a:gd fmla="val 16667" name="adj"/>
            </a:avLst>
          </a:prstGeom>
          <a:solidFill>
            <a:srgbClr val="EEF6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42"/>
          <p:cNvSpPr/>
          <p:nvPr/>
        </p:nvSpPr>
        <p:spPr>
          <a:xfrm>
            <a:off x="603520" y="2383155"/>
            <a:ext cx="493789" cy="493776"/>
          </a:xfrm>
          <a:prstGeom prst="ellipse">
            <a:avLst/>
          </a:prstGeom>
          <a:solidFill>
            <a:srgbClr val="19829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42"/>
          <p:cNvSpPr txBox="1"/>
          <p:nvPr/>
        </p:nvSpPr>
        <p:spPr>
          <a:xfrm>
            <a:off x="665244" y="2479167"/>
            <a:ext cx="377200" cy="25374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13700" spcFirstLastPara="1" rIns="137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/>
          </a:p>
        </p:txBody>
      </p:sp>
      <p:sp>
        <p:nvSpPr>
          <p:cNvPr id="320" name="Google Shape;320;p42"/>
          <p:cNvSpPr txBox="1"/>
          <p:nvPr/>
        </p:nvSpPr>
        <p:spPr>
          <a:xfrm>
            <a:off x="1309913" y="2492883"/>
            <a:ext cx="699534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13700" spcFirstLastPara="1" rIns="137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D2B39"/>
                </a:solidFill>
                <a:latin typeface="Arial"/>
                <a:ea typeface="Arial"/>
                <a:cs typeface="Arial"/>
                <a:sym typeface="Arial"/>
              </a:rPr>
              <a:t>Never trust, always verify</a:t>
            </a:r>
            <a:endParaRPr sz="1100"/>
          </a:p>
        </p:txBody>
      </p:sp>
      <p:sp>
        <p:nvSpPr>
          <p:cNvPr id="321" name="Google Shape;321;p42"/>
          <p:cNvSpPr/>
          <p:nvPr/>
        </p:nvSpPr>
        <p:spPr>
          <a:xfrm>
            <a:off x="706393" y="2990087"/>
            <a:ext cx="7852619" cy="459486"/>
          </a:xfrm>
          <a:prstGeom prst="roundRect">
            <a:avLst>
              <a:gd fmla="val 16667" name="adj"/>
            </a:avLst>
          </a:prstGeom>
          <a:solidFill>
            <a:srgbClr val="EEF6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42"/>
          <p:cNvSpPr/>
          <p:nvPr/>
        </p:nvSpPr>
        <p:spPr>
          <a:xfrm>
            <a:off x="603520" y="2979801"/>
            <a:ext cx="493789" cy="493776"/>
          </a:xfrm>
          <a:prstGeom prst="ellipse">
            <a:avLst/>
          </a:prstGeom>
          <a:solidFill>
            <a:srgbClr val="19829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42"/>
          <p:cNvSpPr txBox="1"/>
          <p:nvPr/>
        </p:nvSpPr>
        <p:spPr>
          <a:xfrm>
            <a:off x="665244" y="3075812"/>
            <a:ext cx="377200" cy="25374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13700" spcFirstLastPara="1" rIns="137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100"/>
          </a:p>
        </p:txBody>
      </p:sp>
      <p:sp>
        <p:nvSpPr>
          <p:cNvPr id="324" name="Google Shape;324;p42"/>
          <p:cNvSpPr txBox="1"/>
          <p:nvPr/>
        </p:nvSpPr>
        <p:spPr>
          <a:xfrm>
            <a:off x="1309913" y="3089528"/>
            <a:ext cx="699534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13700" spcFirstLastPara="1" rIns="137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D2B39"/>
                </a:solidFill>
                <a:latin typeface="Arial"/>
                <a:ea typeface="Arial"/>
                <a:cs typeface="Arial"/>
                <a:sym typeface="Arial"/>
              </a:rPr>
              <a:t>Document throughout, not at the end</a:t>
            </a:r>
            <a:endParaRPr sz="1100"/>
          </a:p>
        </p:txBody>
      </p:sp>
      <p:sp>
        <p:nvSpPr>
          <p:cNvPr id="325" name="Google Shape;325;p42"/>
          <p:cNvSpPr/>
          <p:nvPr/>
        </p:nvSpPr>
        <p:spPr>
          <a:xfrm>
            <a:off x="706393" y="3586734"/>
            <a:ext cx="7852619" cy="459486"/>
          </a:xfrm>
          <a:prstGeom prst="roundRect">
            <a:avLst>
              <a:gd fmla="val 16667" name="adj"/>
            </a:avLst>
          </a:prstGeom>
          <a:solidFill>
            <a:srgbClr val="EEF6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42"/>
          <p:cNvSpPr/>
          <p:nvPr/>
        </p:nvSpPr>
        <p:spPr>
          <a:xfrm>
            <a:off x="603520" y="3576447"/>
            <a:ext cx="493789" cy="493776"/>
          </a:xfrm>
          <a:prstGeom prst="ellipse">
            <a:avLst/>
          </a:prstGeom>
          <a:solidFill>
            <a:srgbClr val="19829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42"/>
          <p:cNvSpPr txBox="1"/>
          <p:nvPr/>
        </p:nvSpPr>
        <p:spPr>
          <a:xfrm>
            <a:off x="665244" y="3672459"/>
            <a:ext cx="377200" cy="25374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13700" spcFirstLastPara="1" rIns="137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100"/>
          </a:p>
        </p:txBody>
      </p:sp>
      <p:sp>
        <p:nvSpPr>
          <p:cNvPr id="328" name="Google Shape;328;p42"/>
          <p:cNvSpPr txBox="1"/>
          <p:nvPr/>
        </p:nvSpPr>
        <p:spPr>
          <a:xfrm>
            <a:off x="1309913" y="3686175"/>
            <a:ext cx="699534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13700" spcFirstLastPara="1" rIns="137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D2B39"/>
                </a:solidFill>
                <a:latin typeface="Arial"/>
                <a:ea typeface="Arial"/>
                <a:cs typeface="Arial"/>
                <a:sym typeface="Arial"/>
              </a:rPr>
              <a:t>Prepare for breaches—not just prevention</a:t>
            </a:r>
            <a:endParaRPr sz="1100"/>
          </a:p>
        </p:txBody>
      </p:sp>
      <p:sp>
        <p:nvSpPr>
          <p:cNvPr id="329" name="Google Shape;329;p42"/>
          <p:cNvSpPr/>
          <p:nvPr/>
        </p:nvSpPr>
        <p:spPr>
          <a:xfrm>
            <a:off x="706393" y="4183380"/>
            <a:ext cx="7852619" cy="459486"/>
          </a:xfrm>
          <a:prstGeom prst="roundRect">
            <a:avLst>
              <a:gd fmla="val 16667" name="adj"/>
            </a:avLst>
          </a:prstGeom>
          <a:solidFill>
            <a:srgbClr val="EEF6F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42"/>
          <p:cNvSpPr/>
          <p:nvPr/>
        </p:nvSpPr>
        <p:spPr>
          <a:xfrm>
            <a:off x="603520" y="4173093"/>
            <a:ext cx="493789" cy="493776"/>
          </a:xfrm>
          <a:prstGeom prst="ellipse">
            <a:avLst/>
          </a:prstGeom>
          <a:solidFill>
            <a:srgbClr val="19829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42"/>
          <p:cNvSpPr txBox="1"/>
          <p:nvPr/>
        </p:nvSpPr>
        <p:spPr>
          <a:xfrm>
            <a:off x="665244" y="4269105"/>
            <a:ext cx="377200" cy="25374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13700" spcFirstLastPara="1" rIns="1370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100"/>
          </a:p>
        </p:txBody>
      </p:sp>
      <p:sp>
        <p:nvSpPr>
          <p:cNvPr id="332" name="Google Shape;332;p42"/>
          <p:cNvSpPr txBox="1"/>
          <p:nvPr/>
        </p:nvSpPr>
        <p:spPr>
          <a:xfrm>
            <a:off x="1309913" y="4282820"/>
            <a:ext cx="699534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13700" spcFirstLastPara="1" rIns="137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1D2B39"/>
                </a:solidFill>
                <a:latin typeface="Arial"/>
                <a:ea typeface="Arial"/>
                <a:cs typeface="Arial"/>
                <a:sym typeface="Arial"/>
              </a:rPr>
              <a:t>Make GRC compliance a priority</a:t>
            </a:r>
            <a:endParaRPr sz="1100"/>
          </a:p>
        </p:txBody>
      </p:sp>
      <p:pic>
        <p:nvPicPr>
          <p:cNvPr id="333" name="Google Shape;33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9525" y="0"/>
            <a:ext cx="1544475" cy="198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0" y="0"/>
            <a:ext cx="31622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3"/>
          <p:cNvSpPr txBox="1"/>
          <p:nvPr>
            <p:ph type="title"/>
          </p:nvPr>
        </p:nvSpPr>
        <p:spPr>
          <a:xfrm>
            <a:off x="1670800" y="1721525"/>
            <a:ext cx="4328700" cy="9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5200">
                <a:solidFill>
                  <a:srgbClr val="17334B"/>
                </a:solidFill>
              </a:rPr>
              <a:t>QUESTIONS?</a:t>
            </a:r>
            <a:endParaRPr b="1" sz="5200">
              <a:solidFill>
                <a:srgbClr val="17334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0" name="Google Shape;34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0" y="0"/>
            <a:ext cx="31622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7175" y="2643125"/>
            <a:ext cx="3855650" cy="6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525" y="4796200"/>
            <a:ext cx="3566650" cy="2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45025" y="3401475"/>
            <a:ext cx="162875" cy="16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67675" y="3401475"/>
            <a:ext cx="162875" cy="16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4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290325" y="3401475"/>
            <a:ext cx="162875" cy="16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599525" y="0"/>
            <a:ext cx="1544475" cy="19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